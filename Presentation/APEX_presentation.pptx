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>
        <p:scale>
          <a:sx n="141" d="100"/>
          <a:sy n="141" d="100"/>
        </p:scale>
        <p:origin x="82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584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TITRE (1min30)
• APEX = point le plus haut d'une trajectoire
• Montrer la courbe : décollage → apogée → réception
• Le boîtier ne voit RIEN (ni sol, ni corps) → pourtant affiche la hauteur
• Annonce plan : physique + STM32 + enquête de debug en 3 actes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01 — APPLICATION (2min30)
• Juge d'explosivité de poche
• 4 étapes : RÉGLER (potentiomètre) → SAUTER → MESURER (7-seg) → VIBRER (victoire)
• Question clé : comment mesurer SANS GPS ni caméra ?
• Réponse : en l'air = CHUTE LIBRE → accéléromètre ressent ≈ 0 g (apesanteur, comme ISS)
• Le pari : CHRONOMÉTRER LE SILENCE → plus longtemps en l'air = plus haut
• 3 chiffres : ≈0g / 1 ms résolution / verdict 7-seg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02 — SOLUTION TECHNIQUE (3min30)
• Plateforme : NUCLEO-L152RE (Cortex-M3) + shield IKS01A3 + carte ISEN32
• LSM6DSO (I2C) = l'œil → sent l'apesanteur et l'impact
• MAX7219 (SPI) = afficheur → 2 bus séparés = zéro conflit
• Potentiomètre (ADC) = réglage objectif en cm
• TIM6 (IT) = LE CŒUR → 1 ms exacte, toute la mesure dépend de lui ← insister !
• Boutons (GPIO + IT) = armer/valider → avec TIM6 = les 2 IT du CDC
• Moteur vibreur (GPIO) = victoire
• UART printf = fenêtre debug (rôle décisif plus tard)
• Transition : "sur le papier c'est propre... la réalité fut différente"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03 — ENQUÊTE DEBUG (4min30) ← MOMENT FORT, ton narratif
AFFAIRE 1 — LE FAUX COUPABLE
• Symptôme : boutons muets → on vérifie pull-up, anti-rebond... innocents !
• Vrai coupable : ARR=0 → compteur ms FIGÉ → anti-rebond dépendait du temps
• Leçon : le symptôme n'est jamais là où est la cause
AFFAIRE 2 — L'ADRESSE FANTÔME
• Symptôme : scan I2C vide (127 adresses, silence total)
• Alim OK, connexions OK, config OK... 
• Coupable : firmware sur PB6/PB7, shield sur PB8/PB9 → "on criait dans une pièce vide"
• Leçon : lire le schéma du SHIELD, pas juste la datasheet MCU
AFFAIRE 3 — L'INSTANT MANQUÉ
• Symptôme : détection 1 saut sur 3 → démo impossible
• UART révèle : échantillonnage 10 ms trop lent → rate creux + pic
• Fix : 416 Hz + lecture chaque tour + afficheur figé pendant vol
• Leçon/méthode : ISOLER, MESURER, PROUVER — printf = stéthoscope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04 — RÉSOLUTION (4min)
FORMULE h = g·t²/8
• Cinématique : vol = 2 moitiés symétriques (t/2 montée, t/2 descente)
• Chute depuis sommet : h = ½g(t/2)² = g·t²/8
• Remarquable : dépend QUE du temps (pas masse, pas technique)
• Exemples : 500 ms → ~30 cm / 640 ms → ~50 cm
• 1 ms de précision sur t → ~1 mm sur h
COURBE ACCÉLÉRATION (lire de gauche à droite)
• Repos = 1 g → impulsion (pic bref) → CHUTE VERS 0 g = départ chrono
• Plateau apesanteur = tout le vol
• Pic impact &gt;&gt; 1 g = arrêt chrono
• 2 seuils : bas (décollage) + haut (impact) → simple, robuste, sans dérive
MACHINE À ÉTATS
• SETUP (potentiomètre) → PRÊT (validé bouton) → EN L'AIR (chrono) → RÉSULTAT (h + vibration) → retour 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05 — CONCLUSION (2min) + DÉMO
• Punchline : "On ne mesure pas le saut, on mesure le silence de la chute"
• 3 acquis : objectif réglable / détection fiable / verdict + vibration
• Leçon méthode : isoler, mesurer, prouver
• Évolutions : EEPROM (progression) / courbe live UART / multi-joueurs
• → DÉMO LIVE : régler, valider, SAUTER devant le jury
• "Merci, prêts pour vos questions"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e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502920"/>
            <a:ext cx="384048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822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ISEN TOULON · SYSTÈMES EMBARQUÉS · STM32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365760" y="10515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kern="0" spc="200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50292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Mesureur de hauteur de saut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2920" y="3127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l'apogée, mesurée par le silence de l'apesanteur.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NUCLEO-L152RE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 Cortex-M3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19456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g·t²/8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19456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physique embarquée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86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03·07·2026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88620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soutenance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L'APPLICATION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Sauter, c'est chuter vers le haut.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19" y="1463040"/>
            <a:ext cx="43442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“boîtier” de poche </a:t>
            </a:r>
            <a:r>
              <a:rPr lang="en-US" sz="16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juge votre détente : réglez un objectif, sautez, lisez le verdict.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2468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de GPS. Pas de caméra.
</a:t>
            </a:r>
            <a:r>
              <a:rPr lang="en-US" sz="15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l'air, l'accéléromètre ressent ≈ 0 g. On chronomètre ce silence.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3657600"/>
            <a:ext cx="932688" cy="402336"/>
          </a:xfrm>
          <a:prstGeom prst="roundRect">
            <a:avLst>
              <a:gd name="adj" fmla="val 18182"/>
            </a:avLst>
          </a:prstGeom>
          <a:solidFill>
            <a:srgbClr val="0D1322"/>
          </a:solidFill>
          <a:ln w="1524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65760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RÉGLER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563624" y="3657600"/>
            <a:ext cx="932688" cy="402336"/>
          </a:xfrm>
          <a:prstGeom prst="roundRect">
            <a:avLst>
              <a:gd name="adj" fmla="val 18182"/>
            </a:avLst>
          </a:prstGeom>
          <a:solidFill>
            <a:srgbClr val="0D1322"/>
          </a:solidFill>
          <a:ln w="1524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63624" y="365760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SAUTER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24328" y="3657600"/>
            <a:ext cx="932688" cy="402336"/>
          </a:xfrm>
          <a:prstGeom prst="roundRect">
            <a:avLst>
              <a:gd name="adj" fmla="val 18182"/>
            </a:avLst>
          </a:prstGeom>
          <a:solidFill>
            <a:srgbClr val="0D1322"/>
          </a:solidFill>
          <a:ln w="1524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24328" y="365760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MESURER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85032" y="3657600"/>
            <a:ext cx="932688" cy="402336"/>
          </a:xfrm>
          <a:prstGeom prst="roundRect">
            <a:avLst>
              <a:gd name="adj" fmla="val 18182"/>
            </a:avLst>
          </a:prstGeom>
          <a:solidFill>
            <a:srgbClr val="0D1322"/>
          </a:solidFill>
          <a:ln w="15240">
            <a:solidFill>
              <a:srgbClr val="C6F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85032" y="3657600"/>
            <a:ext cx="932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VIBRER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0" y="1417320"/>
            <a:ext cx="3611880" cy="804672"/>
          </a:xfrm>
          <a:prstGeom prst="roundRect">
            <a:avLst>
              <a:gd name="adj" fmla="val 11364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257800" y="1417320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≈0 g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766560" y="1417320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PLEIN VOL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2350008"/>
            <a:ext cx="3611880" cy="804672"/>
          </a:xfrm>
          <a:prstGeom prst="roundRect">
            <a:avLst>
              <a:gd name="adj" fmla="val 11364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57800" y="2350008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66560" y="2350008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RÉSOLUTION CHRONO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282696"/>
            <a:ext cx="3611880" cy="804672"/>
          </a:xfrm>
          <a:prstGeom prst="roundRect">
            <a:avLst>
              <a:gd name="adj" fmla="val 11364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257800" y="3282696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7-SEG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766560" y="3282696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 LISIBLE</a:t>
            </a:r>
            <a:endParaRPr lang="en-US" sz="10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57200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SOLUTION TECHNIQUE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 périphériques, une seule mission.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563624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22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21792" y="15636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LSM6DSO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80160" y="180136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accéléromètre — détecte le vol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19272" y="1563624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A7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19272" y="156362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77640" y="150876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MAX7219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977640" y="180136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afficheur 7 segments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258568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" y="2404872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C6F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" y="2404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280160" y="235000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Potentiomètre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280160" y="264261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réglage de l'objectif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0" y="2258568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319272" y="2404872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22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9272" y="240487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977640" y="2350008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TIM6 + IT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977640" y="264261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chrono à la milliseconde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3099816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" y="3246120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A7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1792" y="32461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280160" y="31912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Boutons + 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280160" y="348386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armer / valider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0" y="3099816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319272" y="3246120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C6FF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319272" y="324612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977640" y="3191256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Moteur vibreur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977640" y="3483864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célèbre la victoire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" y="3941064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21792" y="4087368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22E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1792" y="40873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UART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280160" y="40325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printf debug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280160" y="43251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fenêtre sur le firmware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00400" y="3941064"/>
            <a:ext cx="2560320" cy="731520"/>
          </a:xfrm>
          <a:prstGeom prst="roundRect">
            <a:avLst>
              <a:gd name="adj" fmla="val 11250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319272" y="4087368"/>
            <a:ext cx="548640" cy="438912"/>
          </a:xfrm>
          <a:prstGeom prst="roundRect">
            <a:avLst>
              <a:gd name="adj" fmla="val 14583"/>
            </a:avLst>
          </a:prstGeom>
          <a:solidFill>
            <a:srgbClr val="111A2E"/>
          </a:solidFill>
          <a:ln w="15240">
            <a:solidFill>
              <a:srgbClr val="A76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19272" y="40873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MCU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977640" y="4032504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STM32L152RE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977640" y="4325112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chef d'orchestre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126480" y="14173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691640"/>
            <a:ext cx="347472" cy="347472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6784848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ces choix ?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6355080" y="2148840"/>
            <a:ext cx="21945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interruptions</a:t>
            </a:r>
            <a:r>
              <a:rPr lang="en-US" sz="11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boutons + timer
</a:t>
            </a:r>
            <a:r>
              <a:rPr lang="en-US" sz="1150" b="1" dirty="0">
                <a:solidFill>
                  <a:srgbClr val="A7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I2C + SPI</a:t>
            </a:r>
            <a:r>
              <a:rPr lang="en-US" sz="11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capteur et afficheur sur deux bus, zéro conflit.
</a:t>
            </a:r>
            <a:r>
              <a:rPr lang="en-US" sz="1150" b="1" dirty="0">
                <a:solidFill>
                  <a:srgbClr val="C6F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timer est le cœur</a:t>
            </a:r>
            <a:r>
              <a:rPr lang="en-US" sz="11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sans ses millisecondes, aucune mesure n'existe.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DÉFI &amp; ENQUÊTE DE DEBUG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pannes, trois coupables démasqués.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783080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6424" y="1783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FAUX COUPABLE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04088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Les boutons ne répondent pas »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04088" y="2944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vrai fautif : ARR = 0 figeait le compteur de millisecondes.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04088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timer corrigé · le temps coule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3756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78308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41064" y="1783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L'ADRESSE FANTÔME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538728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Capteurs I2C  </a:t>
            </a:r>
            <a:r>
              <a:rPr lang="en-US" sz="1350" b="1" dirty="0" err="1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introuvables</a:t>
            </a:r>
            <a:r>
              <a:rPr lang="en-US" sz="13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»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38728" y="2944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firmware parlait sur PB6/PB7 — le shield écoutait sur PB8/PB9.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538728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bonnes broches · capteurs OK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1554480"/>
            <a:ext cx="2651760" cy="2651760"/>
          </a:xfrm>
          <a:prstGeom prst="roundRect">
            <a:avLst>
              <a:gd name="adj" fmla="val 4138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783080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75704" y="178308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200" dirty="0">
                <a:solidFill>
                  <a:srgbClr val="A76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L'INSTANT MANQUÉ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6373368" y="2240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 1 saut sur 3 mal détecté »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373368" y="29443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ms d'échantillonnage rataient le creux d'apesanteur.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373368" y="3767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FF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416 Hz · lecture chaque tour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2920" y="43708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Méthode : </a:t>
            </a:r>
            <a:r>
              <a:rPr lang="en-US" sz="12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isoler, mesurer, prouver — l'UART printf </a:t>
            </a:r>
            <a:r>
              <a:rPr lang="en-US" sz="1250" dirty="0" err="1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</a:t>
            </a:r>
            <a:r>
              <a:rPr lang="en-US" sz="12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dirty="0" err="1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stéthoscope</a:t>
            </a:r>
            <a:r>
              <a:rPr lang="en-US" sz="125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RÉSOLUTION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l'accélération brute à la hauteur.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0D1322"/>
          </a:solidFill>
          <a:ln w="15240">
            <a:solidFill>
              <a:srgbClr val="C6FF45"/>
            </a:solidFill>
            <a:prstDash val="solid"/>
          </a:ln>
          <a:effectLst>
            <a:outerShdw blurRad="152400" dist="38100" dir="54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A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</a:t>
            </a:r>
            <a:r>
              <a:rPr lang="en-US" sz="4000" b="1" i="1" dirty="0">
                <a:solidFill>
                  <a:srgbClr val="C6F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g·t²</a:t>
            </a:r>
            <a:r>
              <a:rPr lang="en-US" sz="4000" b="1" dirty="0">
                <a:solidFill>
                  <a:srgbClr val="EA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/ 8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2920" y="23957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durée d'apesanteur · un chrono suffit</a:t>
            </a:r>
            <a:endParaRPr lang="en-US" sz="1000" dirty="0"/>
          </a:p>
        </p:txBody>
      </p:sp>
      <p:pic>
        <p:nvPicPr>
          <p:cNvPr id="7" name="Image 0" descr="a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17520"/>
            <a:ext cx="3520440" cy="1828800"/>
          </a:xfrm>
          <a:prstGeom prst="rect">
            <a:avLst/>
          </a:prstGeom>
        </p:spPr>
      </p:pic>
      <p:pic>
        <p:nvPicPr>
          <p:cNvPr id="8" name="Image 1" descr="s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400" y="1325880"/>
            <a:ext cx="2103120" cy="36118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629400" y="1481328"/>
            <a:ext cx="2103120" cy="3291840"/>
          </a:xfrm>
          <a:prstGeom prst="roundRect">
            <a:avLst>
              <a:gd name="adj" fmla="val 5217"/>
            </a:avLst>
          </a:prstGeom>
          <a:solidFill>
            <a:srgbClr val="0D1322"/>
          </a:solidFill>
          <a:ln w="12700">
            <a:solidFill>
              <a:srgbClr val="2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169164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12280" y="21031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par seuils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812280" y="2606040"/>
            <a:ext cx="1783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22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|a| chute vers 0 g
</a:t>
            </a: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départ du chrono
</a:t>
            </a:r>
            <a:r>
              <a:rPr lang="en-US" sz="1100" b="1" dirty="0">
                <a:solidFill>
                  <a:srgbClr val="C6F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|a| pic à l'impact
</a:t>
            </a:r>
            <a:r>
              <a:rPr lang="en-US" sz="11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arrêt du chrono
</a:t>
            </a:r>
            <a:r>
              <a:rPr lang="en-US" sz="1100" i="1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 </a:t>
            </a:r>
            <a:r>
              <a:rPr lang="en-US" sz="1100" i="1" dirty="0">
                <a:solidFill>
                  <a:srgbClr val="8FA3CC"/>
                </a:solidFill>
              </a:rPr>
              <a:t>≈</a:t>
            </a:r>
            <a:r>
              <a:rPr lang="en-US" sz="1100" i="1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9,81m/s</a:t>
            </a:r>
            <a:r>
              <a:rPr lang="en-US" sz="1100" i="1" baseline="30000" dirty="0">
                <a:solidFill>
                  <a:srgbClr val="8FA3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i="1" dirty="0">
              <a:solidFill>
                <a:srgbClr val="8FA3CC"/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2044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22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mesure pas le saut.
</a:t>
            </a:r>
            <a:r>
              <a:rPr lang="en-US" sz="3400" b="1" dirty="0">
                <a:solidFill>
                  <a:srgbClr val="C6F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mesure le silence de la chute.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6060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2423160"/>
            <a:ext cx="205377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réglable au potentiomètre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60604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94760" y="24414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vol fiable &amp; reproductible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60604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37960" y="244144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AF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affiché + vibration de victoire</a:t>
            </a:r>
            <a:endParaRPr lang="en-US" sz="1150" dirty="0"/>
          </a:p>
        </p:txBody>
      </p:sp>
      <p:pic>
        <p:nvPicPr>
          <p:cNvPr id="10" name="Image 3" descr="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3246120"/>
            <a:ext cx="3108960" cy="8229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4297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ÉVOLUTIONS · journal des sauts en EEPROM · courbe live par UART · mode multi-joueurs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502920" y="4773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AF2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APEX </a:t>
            </a: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ISEN TOULON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8321040" y="4773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1258</Words>
  <Application>Microsoft Macintosh PowerPoint</Application>
  <PresentationFormat>On-screen Show (16:9)</PresentationFormat>
  <Paragraphs>103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 — Mesureur de hauteur de saut</dc:title>
  <dc:subject>PptxGenJS Presentation</dc:subject>
  <dc:creator>Ju — ISEN Toulon</dc:creator>
  <cp:lastModifiedBy>Mathis LENORAIS-CLERE</cp:lastModifiedBy>
  <cp:revision>2</cp:revision>
  <dcterms:created xsi:type="dcterms:W3CDTF">2026-07-02T14:00:12Z</dcterms:created>
  <dcterms:modified xsi:type="dcterms:W3CDTF">2026-07-02T16:15:55Z</dcterms:modified>
</cp:coreProperties>
</file>