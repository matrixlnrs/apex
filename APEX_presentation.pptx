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notre projet s'appelle APEX — comme l'apogée d'un saut. En une phrase : un boîtier qui mesure la hauteur de votre détente. Posez le décor sur la trajectoire à droite : décollage, apogée à 0 g, réception.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l'usage : régler un objectif, sauter, lire le verdict, vibrer si gagné. Le point à marteler : APEX ne voit ni le corps ni le sol — il déduit tout du temps passé en apesanteur. C'est contre-intuitif et ça accroche.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le matériel comme un orchestre : chaque périphérique a un rôle unique. Justifiez les deux interruptions obligatoires (boutons + timer). Terminez sur : le timer est le cœur — ça prépare le premier défi.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Votre meilleur moment : racontez les trois pannes comme une enquête. Le faux coupable (timer ARR=0), l'adresse fantôme (PB6/7 vs PB8/9), l'instant manqué (échantillonnage lent). L'UART printf a été le stéthoscope. Un jury adore la démarche plus que le code parfait.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Mettez en scène la formule h = g·t²/8 : un chronomètre devient un instrument de mesure de hauteur. Lisez la courbe : chute vers 0 g au décollage, pic à l'impact. Puis la machine à états, de haut en bas, EN L'AIR en surbrillance.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Récapitulez les trois coches, lâchez la phrase d'accroche, évoquez les évolutions, puis enchaînez immédiatement sur la démo live — sautez devant le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384048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ISEN TOULON · SYSTÈMES EMBARQUÉS · STM32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65760" y="10515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50292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Mesureur de hauteur de saut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l'apogée, mesurée par le silence de l'apesanteur.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NUCLEO-L152RE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 Cortex-M3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19456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g·t²/8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physique embarquée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86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03·07·2026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8620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soutenance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pPr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L'APPLICATION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Sauter, c'est chuter vers le haut.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boîtier de poche </a:t>
            </a:r>
            <a:pPr indent="0" marL="0">
              <a:buNone/>
            </a:pPr>
            <a:r>
              <a:rPr lang="en-US" sz="16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juge votre détente : réglez un objectif, sautez, lisez le verdict.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GPS. Pas de caméra.
</a:t>
            </a:r>
            <a:pPr indent="0" marL="0">
              <a:buNone/>
            </a:pPr>
            <a:r>
              <a:rPr lang="en-US" sz="15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l'air, l'accéléromètre ressent ≈ 0 g. On chronomètre ce silence.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657600"/>
            <a:ext cx="932688" cy="402336"/>
          </a:xfrm>
          <a:prstGeom prst="roundRect">
            <a:avLst>
              <a:gd name="adj" fmla="val 18182"/>
            </a:avLst>
          </a:prstGeom>
          <a:solidFill>
            <a:srgbClr val="0D1322"/>
          </a:solidFill>
          <a:ln w="15240">
            <a:solidFill>
              <a:srgbClr val="2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65760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RÉGLER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63624" y="3657600"/>
            <a:ext cx="932688" cy="402336"/>
          </a:xfrm>
          <a:prstGeom prst="roundRect">
            <a:avLst>
              <a:gd name="adj" fmla="val 18182"/>
            </a:avLst>
          </a:prstGeom>
          <a:solidFill>
            <a:srgbClr val="0D1322"/>
          </a:solidFill>
          <a:ln w="15240">
            <a:solidFill>
              <a:srgbClr val="2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63624" y="365760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3657600"/>
            <a:ext cx="932688" cy="402336"/>
          </a:xfrm>
          <a:prstGeom prst="roundRect">
            <a:avLst>
              <a:gd name="adj" fmla="val 18182"/>
            </a:avLst>
          </a:prstGeom>
          <a:solidFill>
            <a:srgbClr val="0D1322"/>
          </a:solidFill>
          <a:ln w="15240">
            <a:solidFill>
              <a:srgbClr val="2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365760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MESURER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85032" y="3657600"/>
            <a:ext cx="932688" cy="402336"/>
          </a:xfrm>
          <a:prstGeom prst="roundRect">
            <a:avLst>
              <a:gd name="adj" fmla="val 18182"/>
            </a:avLst>
          </a:prstGeom>
          <a:solidFill>
            <a:srgbClr val="0D1322"/>
          </a:solidFill>
          <a:ln w="15240">
            <a:solidFill>
              <a:srgbClr val="C6F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365760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VIBRER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417320"/>
            <a:ext cx="3611880" cy="804672"/>
          </a:xfrm>
          <a:prstGeom prst="roundRect">
            <a:avLst>
              <a:gd name="adj" fmla="val 11364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41732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 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14173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PLEIN VOL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350008"/>
            <a:ext cx="3611880" cy="804672"/>
          </a:xfrm>
          <a:prstGeom prst="roundRect">
            <a:avLst>
              <a:gd name="adj" fmla="val 11364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235000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235000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RÉSOLUTION CHRONO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282696"/>
            <a:ext cx="3611880" cy="804672"/>
          </a:xfrm>
          <a:prstGeom prst="roundRect">
            <a:avLst>
              <a:gd name="adj" fmla="val 11364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57800" y="328269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7-SEG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66560" y="3282696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LISIBLE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pPr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SOLUTION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périphériques, une seule mission.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63624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22E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636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LSM6DSO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180136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accéléromètre — détecte le vol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1563624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A7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5636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77640" y="150876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MAX7219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77640" y="180136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afficheur 7 segments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58568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404872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C6FF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404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80160" y="235000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Potentiomètre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2642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réglage de l'objectif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2258568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9272" y="2404872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22E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404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77640" y="235000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TIM6 + 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2642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chrono à la milliseconde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3099816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3246120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A7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2461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80160" y="31912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+ 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80160" y="348386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armer / valider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3099816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9272" y="3246120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C6FF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2461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77640" y="31912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vibreur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977640" y="348386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célèbre la victoire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3941064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4087368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22E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0873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80160" y="40325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printf debug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80160" y="43251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fenêtre sur le firmware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0" y="3941064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9272" y="4087368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A76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9272" y="40873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MCU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77640" y="40325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STM32L152RE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977640" y="43251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chef d'orchestre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26480" y="1417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347472" cy="34747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784848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ces choix ?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55080" y="21488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interruptions</a:t>
            </a:r>
            <a:pPr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boutons + timer, comme l'exige le cahier des charges.
</a:t>
            </a:r>
            <a:pPr indent="0" marL="0">
              <a:buNone/>
            </a:pPr>
            <a:r>
              <a:rPr lang="en-US" sz="1150" b="1" dirty="0">
                <a:solidFill>
                  <a:srgbClr val="A7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 + SPI</a:t>
            </a:r>
            <a:pPr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capteur et afficheur sur deux bus, zéro conflit.
</a:t>
            </a:r>
            <a:pPr indent="0" marL="0">
              <a:buNone/>
            </a:pPr>
            <a:r>
              <a:rPr lang="en-US" sz="1150" b="1" dirty="0">
                <a:solidFill>
                  <a:srgbClr val="C6F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timer est le cœur</a:t>
            </a:r>
            <a:pPr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sans ses millisecondes, aucune mesure n'existe.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pPr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DÉFI &amp; ENQUÊTE DE DEBUG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pannes, trois coupables démasqués.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8308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783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FAUX COUPABLE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04088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Les boutons ne répondent pas »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2944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vrai fautif : ARR = 0 figeait le compteur de millisecondes.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timer corrigé · le temps coule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7830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41064" y="1783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L'ADRESSE FANTÔME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38728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Capteurs I2C introuvables »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8728" y="2944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firmware parlait sur PB6/PB7 — le shield écoutait sur PB8/PB9.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38728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bonnes broches · capteurs OK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78308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75704" y="1783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L'INSTANT MANQUÉ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373368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1 saut sur 3 mal détecté »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73368" y="2944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ms d'échantillonnage rataient le creux d'apesanteur.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73368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416 Hz · lecture chaque tour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: </a:t>
            </a:r>
            <a:pPr indent="0" marL="0">
              <a:buNone/>
            </a:pPr>
            <a:r>
              <a:rPr lang="en-US" sz="12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isoler, mesurer, prouver — l'UART printf comme stéthoscope, jamais l'intuition.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pPr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RÉSOLUTION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l'accélération brute à la hauteur.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0D1322"/>
          </a:solidFill>
          <a:ln w="15240">
            <a:solidFill>
              <a:srgbClr val="C6FF4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</a:t>
            </a:r>
            <a:pPr algn="ctr" indent="0" marL="0">
              <a:buNone/>
            </a:pPr>
            <a:r>
              <a:rPr lang="en-US" sz="4000" b="1" i="1" dirty="0">
                <a:solidFill>
                  <a:srgbClr val="C6F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g·t²</a:t>
            </a:r>
            <a:pPr algn="ctr" indent="0" marL="0">
              <a:buNone/>
            </a:pPr>
            <a:r>
              <a:rPr lang="en-US" sz="4000" b="1" dirty="0">
                <a:solidFill>
                  <a:srgbClr val="EA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durée d'apesanteur · un chrono suffit</a:t>
            </a:r>
            <a:endParaRPr lang="en-US" sz="1000" dirty="0"/>
          </a:p>
        </p:txBody>
      </p:sp>
      <p:pic>
        <p:nvPicPr>
          <p:cNvPr id="7" name="Image 0" descr="a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17520"/>
            <a:ext cx="3520440" cy="1828800"/>
          </a:xfrm>
          <a:prstGeom prst="rect">
            <a:avLst/>
          </a:prstGeom>
        </p:spPr>
      </p:pic>
      <p:pic>
        <p:nvPicPr>
          <p:cNvPr id="8" name="Image 1" descr="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2103120" cy="3611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29400" y="1481328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91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1228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par seuils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812280" y="260604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|a| chute vers 0 g
</a:t>
            </a:r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départ du chrono
</a:t>
            </a:r>
            <a:pPr indent="0" marL="0">
              <a:buNone/>
            </a:pPr>
            <a:r>
              <a:rPr lang="en-US" sz="1100" b="1" dirty="0">
                <a:solidFill>
                  <a:srgbClr val="C6F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|a| pic à l'impact
</a:t>
            </a:r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arrêt du chrono
</a:t>
            </a:r>
            <a:pPr indent="0" marL="0">
              <a:buNone/>
            </a:pPr>
            <a:r>
              <a:rPr lang="en-US" sz="1100" i="1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416 Hz, à chaque tour : rien ne nous échappe.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pPr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04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mesure pas le saut.
</a:t>
            </a:r>
            <a:pPr algn="ctr" indent="0" marL="0">
              <a:buNone/>
            </a:pPr>
            <a:r>
              <a:rPr lang="en-US" sz="3400" b="1" dirty="0">
                <a:solidFill>
                  <a:srgbClr val="C6F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mesure le silence de la chute.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60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5420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réglable au potentiomètre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6060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94760" y="25420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vol fiable &amp; reproductible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060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37960" y="25420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affiché + vibration de victoire</a:t>
            </a:r>
            <a:endParaRPr lang="en-US" sz="1150" dirty="0"/>
          </a:p>
        </p:txBody>
      </p:sp>
      <p:pic>
        <p:nvPicPr>
          <p:cNvPr id="10" name="Image 3" descr="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3246120"/>
            <a:ext cx="3108960" cy="8229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4297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ÉVOLUTIONS · journal des sauts en EEPROM · courbe live par UART · mode multi-joueurs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pPr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— Mesureur de hauteur de saut</dc:title>
  <dc:subject>PptxGenJS Presentation</dc:subject>
  <dc:creator>Ju — ISEN Toulon</dc:creator>
  <cp:lastModifiedBy>Ju — ISEN Toulon</cp:lastModifiedBy>
  <cp:revision>1</cp:revision>
  <dcterms:created xsi:type="dcterms:W3CDTF">2026-07-02T13:03:26Z</dcterms:created>
  <dcterms:modified xsi:type="dcterms:W3CDTF">2026-07-02T13:03:26Z</dcterms:modified>
</cp:coreProperties>
</file>